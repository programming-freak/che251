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Material Balances for Ammonia Production via Haber Process</a:t>
            </a:r>
          </a:p>
        </p:txBody>
      </p:sp>
      <p:sp>
        <p:nvSpPr>
          <p:cNvPr id="3" name="Content Placeholder 2"/>
          <p:cNvSpPr>
            <a:spLocks noGrp="1"/>
          </p:cNvSpPr>
          <p:nvPr>
            <p:ph idx="1"/>
          </p:nvPr>
        </p:nvSpPr>
        <p:spPr/>
        <p:txBody>
          <a:bodyPr/>
          <a:lstStyle/>
          <a:p>
            <a:r>
              <a:t>Course Code: CHE 251 – Process Calculations</a:t>
            </a:r>
          </a:p>
          <a:p>
            <a:endParaRPr/>
          </a:p>
          <a:p>
            <a:r>
              <a:t>Submitted by: Ayushi Sharma, Aditya Singh, Riddhi, Tenzin, Ravi Kasotiya, Gangothri</a:t>
            </a:r>
          </a:p>
          <a:p>
            <a:r>
              <a:t>Institution: IIT Kanpur</a:t>
            </a:r>
          </a:p>
          <a:p>
            <a:r>
              <a:t>Date: October 2025</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Abstract</a:t>
            </a:r>
          </a:p>
        </p:txBody>
      </p:sp>
      <p:sp>
        <p:nvSpPr>
          <p:cNvPr id="3" name="Content Placeholder 2"/>
          <p:cNvSpPr>
            <a:spLocks noGrp="1"/>
          </p:cNvSpPr>
          <p:nvPr>
            <p:ph idx="1"/>
          </p:nvPr>
        </p:nvSpPr>
        <p:spPr/>
        <p:txBody>
          <a:bodyPr/>
          <a:lstStyle/>
          <a:p>
            <a:r>
              <a:rPr dirty="0"/>
              <a:t>The project focuses on detailed material balance analysis for the Haber process, which synthesizes ammonia (NH₃) from nitrogen and hydrogen. Due to limited single-pass conversion, the system requires recycle and purge streams to achieve higher overall yields. The analysis evaluates how reactor conversion and purge ratio affect ammonia production, providing both theoretical insight and process optimization strategies.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Background and Motivation</a:t>
            </a:r>
          </a:p>
        </p:txBody>
      </p:sp>
      <p:sp>
        <p:nvSpPr>
          <p:cNvPr id="3" name="Content Placeholder 2"/>
          <p:cNvSpPr>
            <a:spLocks noGrp="1"/>
          </p:cNvSpPr>
          <p:nvPr>
            <p:ph idx="1"/>
          </p:nvPr>
        </p:nvSpPr>
        <p:spPr/>
        <p:txBody>
          <a:bodyPr/>
          <a:lstStyle/>
          <a:p>
            <a:r>
              <a:t>Ammonia is a critical chemical used in fertilizers and explosives.</a:t>
            </a:r>
          </a:p>
          <a:p>
            <a:endParaRPr/>
          </a:p>
          <a:p>
            <a:r>
              <a:t>• The Haber process combines N₂ and H₂ under high temperature (400–500°C) and pressure (150–250 atm).</a:t>
            </a:r>
          </a:p>
          <a:p>
            <a:r>
              <a:t>• Single-pass conversion is only 20–30% due to equilibrium limitations.</a:t>
            </a:r>
          </a:p>
          <a:p>
            <a:r>
              <a:t>• To improve yield, unreacted gases are separated, recycled, and partially purged.</a:t>
            </a:r>
          </a:p>
          <a:p>
            <a:r>
              <a:t>• Proper material balance is crucial for reactor design and process optimization.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a:t>
            </a:r>
          </a:p>
        </p:txBody>
      </p:sp>
      <p:sp>
        <p:nvSpPr>
          <p:cNvPr id="3" name="Content Placeholder 2"/>
          <p:cNvSpPr>
            <a:spLocks noGrp="1"/>
          </p:cNvSpPr>
          <p:nvPr>
            <p:ph idx="1"/>
          </p:nvPr>
        </p:nvSpPr>
        <p:spPr/>
        <p:txBody>
          <a:bodyPr/>
          <a:lstStyle/>
          <a:p>
            <a:r>
              <a:t>1. Develop a process flow diagram including reactor, separator, recycle, and purge units.</a:t>
            </a:r>
          </a:p>
          <a:p>
            <a:r>
              <a:t>2. Derive material balance equations for each unit.</a:t>
            </a:r>
          </a:p>
          <a:p>
            <a:r>
              <a:t>3. Quantify the impact of single-pass conversion and purge ratio on ammonia yield.</a:t>
            </a:r>
          </a:p>
          <a:p>
            <a:r>
              <a:t>4. Establish steady-state relations for inert gas control.</a:t>
            </a:r>
          </a:p>
          <a:p>
            <a:r>
              <a:t>5. Compare performance across different operating conditions.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 Overview</a:t>
            </a:r>
          </a:p>
        </p:txBody>
      </p:sp>
      <p:sp>
        <p:nvSpPr>
          <p:cNvPr id="3" name="Content Placeholder 2"/>
          <p:cNvSpPr>
            <a:spLocks noGrp="1"/>
          </p:cNvSpPr>
          <p:nvPr>
            <p:ph idx="1"/>
          </p:nvPr>
        </p:nvSpPr>
        <p:spPr/>
        <p:txBody>
          <a:bodyPr/>
          <a:lstStyle/>
          <a:p>
            <a:r>
              <a:t>The Haber process converts nitrogen and hydrogen to ammonia:</a:t>
            </a:r>
          </a:p>
          <a:p>
            <a:endParaRPr/>
          </a:p>
          <a:p>
            <a:r>
              <a:t>N₂ + 3H₂ → 2NH₃ (exothermic)</a:t>
            </a:r>
          </a:p>
          <a:p>
            <a:endParaRPr/>
          </a:p>
          <a:p>
            <a:r>
              <a:t>Main components:</a:t>
            </a:r>
          </a:p>
          <a:p>
            <a:r>
              <a:t>• Fresh Feed – mixture of N₂, H₂, and small fraction of inerts.</a:t>
            </a:r>
          </a:p>
          <a:p>
            <a:r>
              <a:t>• Reactor – partial conversion of N₂ and H₂ to NH₃.</a:t>
            </a:r>
          </a:p>
          <a:p>
            <a:r>
              <a:t>• Separator – separates NH₃ from unreacted gases.</a:t>
            </a:r>
          </a:p>
          <a:p>
            <a:r>
              <a:t>• Recycle Stream – sends unreacted gases back to reactor.</a:t>
            </a:r>
          </a:p>
          <a:p>
            <a:r>
              <a:t>• Purge Stream – removes inerts to maintain gas composition.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Process Flow Diagram (Description)</a:t>
            </a:r>
          </a:p>
        </p:txBody>
      </p:sp>
      <p:sp>
        <p:nvSpPr>
          <p:cNvPr id="3" name="Content Placeholder 2"/>
          <p:cNvSpPr>
            <a:spLocks noGrp="1"/>
          </p:cNvSpPr>
          <p:nvPr>
            <p:ph idx="1"/>
          </p:nvPr>
        </p:nvSpPr>
        <p:spPr/>
        <p:txBody>
          <a:bodyPr/>
          <a:lstStyle/>
          <a:p>
            <a:r>
              <a:t>1. Fresh feed enters the system containing N₂, H₂, and small inert fraction.</a:t>
            </a:r>
          </a:p>
          <a:p>
            <a:r>
              <a:t>2. In the reactor, partial conversion takes place.</a:t>
            </a:r>
          </a:p>
          <a:p>
            <a:r>
              <a:t>3. Separator removes produced NH₃.</a:t>
            </a:r>
          </a:p>
          <a:p>
            <a:r>
              <a:t>4. Unreacted gases form a mixed stream.</a:t>
            </a:r>
          </a:p>
          <a:p>
            <a:r>
              <a:t>5. This stream is split — one part recycled, another purged.</a:t>
            </a:r>
          </a:p>
          <a:p>
            <a:r>
              <a:t>6. Steady-state operation ensures constant inert concentration.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Assumptions and Basis</a:t>
            </a:r>
          </a:p>
        </p:txBody>
      </p:sp>
      <p:sp>
        <p:nvSpPr>
          <p:cNvPr id="3" name="Content Placeholder 2"/>
          <p:cNvSpPr>
            <a:spLocks noGrp="1"/>
          </p:cNvSpPr>
          <p:nvPr>
            <p:ph idx="1"/>
          </p:nvPr>
        </p:nvSpPr>
        <p:spPr/>
        <p:txBody>
          <a:bodyPr/>
          <a:lstStyle/>
          <a:p>
            <a:r>
              <a:t>• Basis: 100 mol fresh feed.</a:t>
            </a:r>
          </a:p>
          <a:p>
            <a:r>
              <a:t>• Feed composition: 24 mol N₂, 72 mol H₂, 4 mol inerts.</a:t>
            </a:r>
          </a:p>
          <a:p>
            <a:r>
              <a:t>• Reaction: N₂ + 3H₂ → 2NH₃.</a:t>
            </a:r>
          </a:p>
          <a:p>
            <a:r>
              <a:t>• Single-pass conversion (x): 25%.</a:t>
            </a:r>
          </a:p>
          <a:p>
            <a:r>
              <a:t>• Purge ratio (p): 10%.</a:t>
            </a:r>
          </a:p>
          <a:p>
            <a:r>
              <a:t>• Ideal separation – all NH₃ removed as product.</a:t>
            </a:r>
          </a:p>
          <a:p>
            <a:r>
              <a:t>• Steady state: No accumulation in system.</a:t>
            </a:r>
          </a:p>
          <a:p>
            <a:r>
              <a:t>• Reactor operates under equilibrium conditions.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Material Balance Derivations</a:t>
            </a:r>
          </a:p>
        </p:txBody>
      </p:sp>
      <p:sp>
        <p:nvSpPr>
          <p:cNvPr id="3" name="Content Placeholder 2"/>
          <p:cNvSpPr>
            <a:spLocks noGrp="1"/>
          </p:cNvSpPr>
          <p:nvPr>
            <p:ph idx="1"/>
          </p:nvPr>
        </p:nvSpPr>
        <p:spPr/>
        <p:txBody>
          <a:bodyPr/>
          <a:lstStyle/>
          <a:p>
            <a:r>
              <a:rPr dirty="0"/>
              <a:t>At steady state, Input = Output for each component.</a:t>
            </a:r>
          </a:p>
          <a:p>
            <a:endParaRPr dirty="0"/>
          </a:p>
          <a:p>
            <a:r>
              <a:rPr dirty="0"/>
              <a:t>Inert Balance: FI = PI</a:t>
            </a:r>
          </a:p>
          <a:p>
            <a:r>
              <a:rPr dirty="0"/>
              <a:t>Nitrogen: FN₂ = </a:t>
            </a:r>
            <a:r>
              <a:rPr dirty="0" err="1"/>
              <a:t>N₂,reacted</a:t>
            </a:r>
            <a:r>
              <a:rPr dirty="0"/>
              <a:t> + PN₂</a:t>
            </a:r>
          </a:p>
          <a:p>
            <a:r>
              <a:rPr dirty="0"/>
              <a:t>Hydrogen: FH₂ = 3 × </a:t>
            </a:r>
            <a:r>
              <a:rPr dirty="0" err="1"/>
              <a:t>N₂,reacted</a:t>
            </a:r>
            <a:r>
              <a:rPr dirty="0"/>
              <a:t> + PH₂</a:t>
            </a:r>
          </a:p>
          <a:p>
            <a:r>
              <a:rPr dirty="0"/>
              <a:t>Ammonia: N_NH₃ = 2 × </a:t>
            </a:r>
            <a:r>
              <a:rPr dirty="0" err="1"/>
              <a:t>N₂,reacted</a:t>
            </a:r>
            <a:endParaRPr dirty="0"/>
          </a:p>
          <a:p>
            <a:endParaRPr dirty="0"/>
          </a:p>
          <a:p>
            <a:r>
              <a:rPr dirty="0"/>
              <a:t>Recycle-Purge Relationship:</a:t>
            </a:r>
          </a:p>
          <a:p>
            <a:r>
              <a:rPr dirty="0"/>
              <a:t>FI = p × </a:t>
            </a:r>
            <a:r>
              <a:rPr dirty="0" err="1"/>
              <a:t>Inerts_in_Recycle</a:t>
            </a:r>
            <a:r>
              <a:rPr dirty="0"/>
              <a:t> → </a:t>
            </a:r>
            <a:r>
              <a:rPr dirty="0" err="1"/>
              <a:t>Inerts_in_Recycle</a:t>
            </a:r>
            <a:r>
              <a:rPr dirty="0"/>
              <a:t> = FI/p</a:t>
            </a:r>
          </a:p>
          <a:p>
            <a:r>
              <a:rPr dirty="0"/>
              <a:t>The system of equations is solved simultaneously for each case.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Calculation Methodology</a:t>
            </a:r>
          </a:p>
        </p:txBody>
      </p:sp>
      <p:sp>
        <p:nvSpPr>
          <p:cNvPr id="3" name="Content Placeholder 2"/>
          <p:cNvSpPr>
            <a:spLocks noGrp="1"/>
          </p:cNvSpPr>
          <p:nvPr>
            <p:ph idx="1"/>
          </p:nvPr>
        </p:nvSpPr>
        <p:spPr/>
        <p:txBody>
          <a:bodyPr>
            <a:normAutofit fontScale="85000" lnSpcReduction="20000"/>
          </a:bodyPr>
          <a:lstStyle/>
          <a:p>
            <a:r>
              <a:rPr dirty="0"/>
              <a:t>• Use overall and component balances to establish equations.</a:t>
            </a:r>
          </a:p>
          <a:p>
            <a:r>
              <a:rPr dirty="0"/>
              <a:t>• Solve for unreacted gas compositions using assumed x and p.</a:t>
            </a:r>
          </a:p>
          <a:p>
            <a:r>
              <a:rPr dirty="0"/>
              <a:t>• Determine NH₃ yield for different values of x and p.</a:t>
            </a:r>
          </a:p>
          <a:p>
            <a:r>
              <a:rPr dirty="0"/>
              <a:t>• Analyze results to identify optimal operational conditions.</a:t>
            </a:r>
          </a:p>
          <a:p>
            <a:endParaRPr dirty="0"/>
          </a:p>
          <a:p>
            <a:r>
              <a:rPr dirty="0"/>
              <a:t>Tools used:</a:t>
            </a:r>
          </a:p>
          <a:p>
            <a:r>
              <a:rPr dirty="0"/>
              <a:t>• MATLAB for solving nonlinear balance equations.</a:t>
            </a:r>
          </a:p>
          <a:p>
            <a:r>
              <a:rPr dirty="0"/>
              <a:t>• Graphical representation for x–p trade-off analysis.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lstStyle/>
          <a:p>
            <a:r>
              <a:t>Case Studies:</a:t>
            </a:r>
          </a:p>
          <a:p>
            <a:r>
              <a:t>1. x = 25%, p = 10% → NH₃ yield = 14.8 mol/100 mol feed.</a:t>
            </a:r>
          </a:p>
          <a:p>
            <a:r>
              <a:t>2. x = 30%, p = 5% → NH₃ yield = 21.5 mol/100 mol feed.</a:t>
            </a:r>
          </a:p>
          <a:p>
            <a:r>
              <a:t>3. x = 20%, p = 15% → NH₃ yield = 10.5 mol/100 mol feed.</a:t>
            </a:r>
          </a:p>
          <a:p>
            <a:endParaRPr/>
          </a:p>
          <a:p>
            <a:r>
              <a:t>Observations:</a:t>
            </a:r>
          </a:p>
          <a:p>
            <a:r>
              <a:t>• Yield increases with x.</a:t>
            </a:r>
          </a:p>
          <a:p>
            <a:r>
              <a:t>• Yield decreases with p.</a:t>
            </a:r>
          </a:p>
          <a:p>
            <a:r>
              <a:t>• There exists an optimal purge range (~3–5%) for stable operation.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Discussion and Insights</a:t>
            </a:r>
          </a:p>
        </p:txBody>
      </p:sp>
      <p:sp>
        <p:nvSpPr>
          <p:cNvPr id="3" name="Content Placeholder 2"/>
          <p:cNvSpPr>
            <a:spLocks noGrp="1"/>
          </p:cNvSpPr>
          <p:nvPr>
            <p:ph idx="1"/>
          </p:nvPr>
        </p:nvSpPr>
        <p:spPr/>
        <p:txBody>
          <a:bodyPr/>
          <a:lstStyle/>
          <a:p>
            <a:r>
              <a:t>• Increasing reactor conversion directly enhances yield.</a:t>
            </a:r>
          </a:p>
          <a:p>
            <a:r>
              <a:t>• Higher purge reduces accumulation but wastes reactants.</a:t>
            </a:r>
          </a:p>
          <a:p>
            <a:r>
              <a:t>• Zero purge leads to inert buildup, reducing efficiency.</a:t>
            </a:r>
          </a:p>
          <a:p>
            <a:r>
              <a:t>• Process optimization must balance purge and recycle.</a:t>
            </a:r>
          </a:p>
          <a:p>
            <a:r>
              <a:t>• Industrial processes typically operate at x = 25–30% and p = 3–5%.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The steady-state material balance for ammonia production reveals that:</a:t>
            </a:r>
          </a:p>
          <a:p>
            <a:r>
              <a:t>• Recycle significantly increases yield beyond single-pass limits.</a:t>
            </a:r>
          </a:p>
          <a:p>
            <a:r>
              <a:t>• Purge is essential for inert control.</a:t>
            </a:r>
          </a:p>
          <a:p>
            <a:r>
              <a:t>• Optimized conversion and purge ratios ensure efficient operation.</a:t>
            </a:r>
          </a:p>
          <a:p>
            <a:r>
              <a:t>The developed framework can be extended for sensitivity analysis and validation with industrial plant data.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r>
              <a:t>1. Felder &amp; Rousseau, Elementary Principles of Chemical Processes, Wiley.</a:t>
            </a:r>
          </a:p>
          <a:p>
            <a:r>
              <a:t>2. Himmelblau, Basic Principles and Calculations in Chemical Engineering.</a:t>
            </a:r>
          </a:p>
          <a:p>
            <a:r>
              <a:t>3. Smith, Van Ness &amp; Abbott, Introduction to Chemical Engineering Thermodynamics.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11</TotalTime>
  <Words>909</Words>
  <Application>Microsoft Office PowerPoint</Application>
  <PresentationFormat>On-screen Show (4:3)</PresentationFormat>
  <Paragraphs>94</Paragraphs>
  <Slides>13</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Material Balances for Ammonia Production via Haber Process</vt:lpstr>
      <vt:lpstr>Abstract</vt:lpstr>
      <vt:lpstr>Background and Motivation</vt:lpstr>
      <vt:lpstr>Objectives</vt:lpstr>
      <vt:lpstr>Process Overview</vt:lpstr>
      <vt:lpstr>Process Flow Diagram (Description)</vt:lpstr>
      <vt:lpstr>Assumptions and Basis</vt:lpstr>
      <vt:lpstr>Material Balance Derivations</vt:lpstr>
      <vt:lpstr>Calculation Methodology</vt:lpstr>
      <vt:lpstr>Results</vt:lpstr>
      <vt:lpstr>Discussion and Insights</vt:lpstr>
      <vt:lpstr>Conclusion</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Ayushi Sharma</dc:creator>
  <cp:keywords/>
  <dc:description>generated using python-pptx</dc:description>
  <cp:lastModifiedBy>Ayushi Sharma</cp:lastModifiedBy>
  <cp:revision>2</cp:revision>
  <dcterms:created xsi:type="dcterms:W3CDTF">2013-01-27T09:14:16Z</dcterms:created>
  <dcterms:modified xsi:type="dcterms:W3CDTF">2025-11-02T13:07:02Z</dcterms:modified>
  <cp:category/>
</cp:coreProperties>
</file>